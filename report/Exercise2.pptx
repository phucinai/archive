
<file path=[Content_Types].xml><?xml version="1.0" encoding="utf-8"?>
<Types xmlns="http://schemas.openxmlformats.org/package/2006/content-types">
  <Default Extension="wmf" ContentType="image/x-wmf"/>
  <Default Extension="png" ContentType="image/png"/>
  <Default Extension="jpeg" ContentType="image/jpeg"/>
  <Default Extension="xml" ContentType="application/xml"/>
  <Default Extension="rels" ContentType="application/vnd.openxmlformats-package.relationships+xml"/>
  <Default Extension="bin" ContentType="application/vnd.openxmlformats-officedocument.oleObject"/>
  <Override PartName="/ppt/notesSlides/notesSlide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.xml" ContentType="application/vnd.openxmlformats-officedocument.presentationml.notesSlide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Layouts/slideLayout8.xml" ContentType="application/vnd.openxmlformats-officedocument.presentationml.slideLayout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2.xml" ContentType="application/vnd.openxmlformats-officedocument.them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docProps/custom.xml" ContentType="application/vnd.openxmlformats-officedocument.custom-properties+xml"/>
  <Override PartName="/ppt/slideLayouts/slideLayout11.xml" ContentType="application/vnd.openxmlformats-officedocument.presentationml.slideLayout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2.xml" ContentType="application/vnd.openxmlformats-officedocument.presentationml.slide+xml"/>
  <Override PartName="/ppt/viewProps.xml" ContentType="application/vnd.openxmlformats-officedocument.presentationml.viewProps+xml"/>
  <Override PartName="/ppt/notesSlides/notesSlide3.xml" ContentType="application/vnd.openxmlformats-officedocument.presentationml.notesSlide+xml"/>
  <Override PartName="/ppt/slideLayouts/slideLayout6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>
  <p:sldMasterIdLst>
    <p:sldMasterId id="2147483648" r:id="rId1"/>
  </p:sldMasterIdLst>
  <p:notesMasterIdLst>
    <p:notesMasterId r:id="rId8"/>
  </p:notesMasterIdLst>
  <p:sldIdLst>
    <p:sldId id="256" r:id="rId4"/>
    <p:sldId id="257" r:id="rId5"/>
    <p:sldId id="258" r:id="rId6"/>
    <p:sldId id="259" r:id="rId7"/>
  </p:sldIdLst>
  <p:sldSz cx="12192000" cy="6858000"/>
  <p:notesSz cx="6858000" cy="9144000"/>
  <p:defaultTextStyle>
    <a:defPPr>
      <a:defRPr lang="en-US"/>
    </a:defPPr>
    <a:lvl1pPr marL="0" algn="l" defTabSz="4572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>
              <a:solidFill>
                <a:schemeClr val="lt1"/>
              </a:solidFill>
            </a:ln>
          </a:left>
          <a:right>
            <a:ln w="12700">
              <a:solidFill>
                <a:schemeClr val="lt1"/>
              </a:solidFill>
            </a:ln>
          </a:right>
          <a:top>
            <a:ln w="12700">
              <a:solidFill>
                <a:schemeClr val="lt1"/>
              </a:solidFill>
            </a:ln>
          </a:top>
          <a:bottom>
            <a:ln w="12700">
              <a:solidFill>
                <a:schemeClr val="lt1"/>
              </a:solidFill>
            </a:ln>
          </a:bottom>
          <a:insideH>
            <a:ln w="12700">
              <a:solidFill>
                <a:schemeClr val="lt1"/>
              </a:solidFill>
            </a:ln>
          </a:insideH>
          <a:insideV>
            <a:ln w="12700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Ref idx="minor">
          <a:prstClr val="black"/>
        </a:fontRef>
        <a:schemeClr val="lt1"/>
      </a:tcTxStyle>
      <a:tcStyle>
        <a:tcBdr>
          <a:bottom>
            <a:ln w="38100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33" d="100"/>
          <a:sy n="133" d="100"/>
        </p:scale>
        <p:origin x="800" y="20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 /><Relationship Id="rId10" Type="http://schemas.openxmlformats.org/officeDocument/2006/relationships/tableStyles" Target="tableStyles.xml" /><Relationship Id="rId11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EE598D9-66C0-8C5F-B7C3-69C4DBAC489B}" type="slidenum">
              <a:rPr/>
              <a:t/>
            </a:fld>
            <a:endParaRPr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B96D3DC-84F7-FBBC-60AF-88854803FDB1}" type="slidenum">
              <a:rPr/>
              <a:t/>
            </a:fld>
            <a:endParaRPr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CA63981-5A3E-F165-AAEF-BFE96C14BB94}" type="slidenum">
              <a:rPr/>
              <a:t/>
            </a:fld>
            <a:endParaRPr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1DDC457-5A60-B4A6-7C18-5E9C87981B90}" type="slidenum">
              <a:rPr/>
              <a:t/>
            </a:fld>
            <a:endParaRPr/>
          </a:p>
        </p:txBody>
      </p:sp>
    </p:spTree>
  </p:cSld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auto">
          <a:xfrm>
            <a:off x="0" y="761999"/>
            <a:ext cx="9141619" cy="533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 bwMode="auto">
          <a:xfrm>
            <a:off x="9270263" y="761999"/>
            <a:ext cx="2925318" cy="5334000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 bwMode="auto">
          <a:xfrm>
            <a:off x="1069848" y="1298448"/>
            <a:ext cx="7315200" cy="3255264"/>
          </a:xfrm>
        </p:spPr>
        <p:txBody>
          <a:bodyPr anchor="b">
            <a:normAutofit/>
          </a:bodyPr>
          <a:lstStyle>
            <a:lvl1pPr algn="l">
              <a:defRPr sz="5900" spc="-1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auto">
          <a:xfrm>
            <a:off x="1100015" y="4670246"/>
            <a:ext cx="73152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200" cap="none" spc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586B75A-687E-405C-8A0B-8D00578BA2C3}" type="datetimeFigureOut">
              <a:rPr lang="en-US"/>
              <a:t>4/29/24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FAB73BC-B049-4115-A692-8D63A059BFB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586B75A-687E-405C-8A0B-8D00578BA2C3}" type="datetimeFigureOut">
              <a:rPr lang="en-US"/>
              <a:t>4/29/24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FAB73BC-B049-4115-A692-8D63A059BFB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3867911" y="1298448"/>
            <a:ext cx="7315200" cy="3255264"/>
          </a:xfrm>
        </p:spPr>
        <p:txBody>
          <a:bodyPr anchor="b">
            <a:normAutofit/>
          </a:bodyPr>
          <a:lstStyle>
            <a:lvl1pPr>
              <a:defRPr sz="5900" b="0" spc="-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3886200" y="4672584"/>
            <a:ext cx="73152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200" cap="none" spc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586B75A-687E-405C-8A0B-8D00578BA2C3}" type="datetimeFigureOut">
              <a:rPr lang="en-US"/>
              <a:t>4/29/24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FAB73BC-B049-4115-A692-8D63A059BFB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3867911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7818120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586B75A-687E-405C-8A0B-8D00578BA2C3}" type="datetimeFigureOut">
              <a:rPr lang="en-US"/>
              <a:t>4/29/24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FAB73BC-B049-4115-A692-8D63A059BFB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3867911" y="1023586"/>
            <a:ext cx="347472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3867911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7818462" y="1023586"/>
            <a:ext cx="347472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7818462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586B75A-687E-405C-8A0B-8D00578BA2C3}" type="datetimeFigureOut">
              <a:rPr lang="en-US"/>
              <a:t>4/29/24</a:t>
            </a:fld>
            <a:endParaRPr lang="en-US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FAB73BC-B049-4115-A692-8D63A059BFB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586B75A-687E-405C-8A0B-8D00578BA2C3}" type="datetimeFigureOut">
              <a:rPr lang="en-US"/>
              <a:t>4/29/24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FAB73BC-B049-4115-A692-8D63A059BFB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586B75A-687E-405C-8A0B-8D00578BA2C3}" type="datetimeFigureOut">
              <a:rPr lang="en-US"/>
              <a:t>4/29/24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FAB73BC-B049-4115-A692-8D63A059BFB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auto">
          <a:xfrm>
            <a:off x="3867911" y="868680"/>
            <a:ext cx="73152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256032" y="3494176"/>
            <a:ext cx="2834640" cy="232199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586B75A-687E-405C-8A0B-8D00578BA2C3}" type="datetimeFigureOut">
              <a:rPr lang="en-US"/>
              <a:t>4/29/24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FAB73BC-B049-4115-A692-8D63A059BFB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3570644" y="767418"/>
            <a:ext cx="8115230" cy="533095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256032" y="3493008"/>
            <a:ext cx="2834640" cy="232257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586B75A-687E-405C-8A0B-8D00578BA2C3}" type="datetimeFigureOut">
              <a:rPr lang="en-US"/>
              <a:t>4/29/24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 bwMode="auto">
          <a:xfrm>
            <a:off x="3499101" y="6356350"/>
            <a:ext cx="5911517" cy="365125"/>
          </a:xfr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FAB73BC-B049-4115-A692-8D63A059BFB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 anchor="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586B75A-687E-405C-8A0B-8D00578BA2C3}" type="datetimeFigureOut">
              <a:rPr lang="en-US"/>
              <a:t>4/29/24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FAB73BC-B049-4115-A692-8D63A059BFB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381000" y="990600"/>
            <a:ext cx="2819400" cy="4953000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3867911" y="868680"/>
            <a:ext cx="7315200" cy="5120640"/>
          </a:xfrm>
        </p:spPr>
        <p:txBody>
          <a:bodyPr vert="eaVert" anchor="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586B75A-687E-405C-8A0B-8D00578BA2C3}" type="datetimeFigureOut">
              <a:rPr lang="en-US"/>
              <a:t>4/29/24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FAB73BC-B049-4115-A692-8D63A059BFB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auto"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auto"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8" name="Rectangle 37"/>
          <p:cNvSpPr/>
          <p:nvPr/>
        </p:nvSpPr>
        <p:spPr bwMode="auto"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3869267" y="864108"/>
            <a:ext cx="73152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>
              <a:defRPr/>
            </a:pPr>
            <a:fld id="{5586B75A-687E-405C-8A0B-8D00578BA2C3}" type="datetimeFigureOut">
              <a:rPr lang="en-US"/>
              <a:t>4/29/24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3869267" y="6356350"/>
            <a:ext cx="591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pPr>
              <a:defRPr/>
            </a:pPr>
            <a:fld id="{4FAB73BC-B049-4115-A692-8D63A059BFB8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lvl1pPr algn="l" defTabSz="914400">
        <a:lnSpc>
          <a:spcPct val="90000"/>
        </a:lnSpc>
        <a:spcBef>
          <a:spcPts val="0"/>
        </a:spcBef>
        <a:buNone/>
        <a:defRPr sz="3600" spc="-6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>
        <a:lnSpc>
          <a:spcPct val="90000"/>
        </a:lnSpc>
        <a:spcBef>
          <a:spcPts val="1200"/>
        </a:spcBef>
        <a:buClr>
          <a:schemeClr val="accent1"/>
        </a:buClr>
        <a:buFont typeface="Wingdings 2"/>
        <a:buChar char=""/>
        <a:defRPr sz="20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/>
        <a:buChar char=""/>
        <a:defRPr sz="18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/>
        <a:buChar char=""/>
        <a:defRPr sz="16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/>
        <a:buChar char=""/>
        <a:defRPr sz="14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/>
        <a:buChar char=""/>
        <a:defRPr sz="14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/>
        <a:buChar char=""/>
        <a:defRPr sz="14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/>
        <a:buChar char=""/>
        <a:defRPr sz="14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/>
        <a:buChar char=""/>
        <a:defRPr sz="14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/>
        <a:buChar char=""/>
        <a:defRPr sz="14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7.png"/><Relationship Id="rId10" Type="http://schemas.openxmlformats.org/officeDocument/2006/relationships/image" Target="../media/image8.png"/><Relationship Id="rId11" Type="http://schemas.openxmlformats.org/officeDocument/2006/relationships/image" Target="../media/image9.png"/><Relationship Id="rId12" Type="http://schemas.openxmlformats.org/officeDocument/2006/relationships/image" Target="../media/image10.png"/><Relationship Id="rId13" Type="http://schemas.openxmlformats.org/officeDocument/2006/relationships/image" Target="../media/image11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AdjustHandles="1" noChangeArrowheads="1" noChangeAspect="1" noChangeShapeType="1" noEditPoints="1" noGrp="1" noMove="1" noResize="1" noRot="1" noTextEdit="1"/>
          </p:cNvSpPr>
          <p:nvPr/>
        </p:nvSpPr>
        <p:spPr bwMode="auto">
          <a:xfrm>
            <a:off x="0" y="761999"/>
            <a:ext cx="9141619" cy="533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" name="Rectangle 12"/>
          <p:cNvSpPr>
            <a:spLocks noAdjustHandles="1" noChangeArrowheads="1" noChangeAspect="1" noChangeShapeType="1" noEditPoints="1" noGrp="1" noMove="1" noResize="1" noRot="1" noTextEdit="1"/>
          </p:cNvSpPr>
          <p:nvPr/>
        </p:nvSpPr>
        <p:spPr bwMode="auto">
          <a:xfrm>
            <a:off x="9270263" y="761999"/>
            <a:ext cx="2925318" cy="5334000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endParaRPr/>
          </a:p>
        </p:txBody>
      </p:sp>
      <p:sp useBgFill="1">
        <p:nvSpPr>
          <p:cNvPr id="15" name="Rectangle 14"/>
          <p:cNvSpPr>
            <a:spLocks noAdjustHandles="1" noChangeArrowheads="1" noChangeAspect="1" noChangeShapeType="1" noEditPoints="1" noGrp="1" noMove="1" noResize="1" noRot="1" noTextEdit="1"/>
          </p:cNvSpPr>
          <p:nvPr/>
        </p:nvSpPr>
        <p:spPr bwMode="auto"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661633" y="440482"/>
            <a:ext cx="10210862" cy="1065690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defRPr/>
            </a:pPr>
            <a:r>
              <a:rPr lang="en-US" sz="5900" spc="-100"/>
              <a:t>Known Attributes of Dataset</a:t>
            </a:r>
            <a:endParaRPr/>
          </a:p>
        </p:txBody>
      </p:sp>
      <p:sp>
        <p:nvSpPr>
          <p:cNvPr id="2014997221" name=""/>
          <p:cNvSpPr txBox="1"/>
          <p:nvPr/>
        </p:nvSpPr>
        <p:spPr bwMode="auto">
          <a:xfrm flipH="0" flipV="0">
            <a:off x="827796" y="1506172"/>
            <a:ext cx="10506349" cy="22863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1800" b="0" i="0" u="none" strike="noStrike" cap="none" spc="0">
                <a:solidFill>
                  <a:schemeClr val="tx1"/>
                </a:solidFill>
                <a:latin typeface="Corbel"/>
                <a:ea typeface="Corbel"/>
                <a:cs typeface="Corbel"/>
              </a:rPr>
              <a:t>Data is the same as data in Excercise 1, so that it have some features which are analyzed:</a:t>
            </a:r>
            <a:endParaRPr lang="en-US" sz="1800" b="0" i="0" u="none" strike="noStrike" cap="none" spc="0">
              <a:solidFill>
                <a:schemeClr val="tx1"/>
              </a:solidFill>
              <a:latin typeface="Corbel"/>
              <a:cs typeface="Corbel"/>
            </a:endParaRPr>
          </a:p>
          <a:p>
            <a:pPr marL="283879" indent="-283879">
              <a:buFont typeface="Arial"/>
              <a:buChar char="•"/>
              <a:defRPr/>
            </a:pPr>
            <a:r>
              <a:rPr lang="en-US" sz="1800" b="0" i="0" u="none" strike="noStrike" cap="none" spc="0">
                <a:solidFill>
                  <a:schemeClr val="tx1"/>
                </a:solidFill>
                <a:latin typeface="Corbel"/>
                <a:ea typeface="Corbel"/>
                <a:cs typeface="Corbel"/>
              </a:rPr>
              <a:t>Shape distribution is balance</a:t>
            </a:r>
            <a:endParaRPr lang="en-US" sz="1800" b="0" i="0" u="none" strike="noStrike" cap="none" spc="0">
              <a:solidFill>
                <a:schemeClr val="tx1"/>
              </a:solidFill>
              <a:latin typeface="Corbel"/>
              <a:cs typeface="Corbel"/>
            </a:endParaRPr>
          </a:p>
          <a:p>
            <a:pPr marL="283879" indent="-283879">
              <a:buFont typeface="Arial"/>
              <a:buChar char="•"/>
              <a:defRPr/>
            </a:pPr>
            <a:r>
              <a:rPr lang="en-US" sz="1800" b="0" i="0" u="none" strike="noStrike" cap="none" spc="0">
                <a:solidFill>
                  <a:schemeClr val="tx1"/>
                </a:solidFill>
                <a:latin typeface="Corbel"/>
                <a:ea typeface="Corbel"/>
                <a:cs typeface="Corbel"/>
              </a:rPr>
              <a:t>Color is only 1 channels of RGB for train, but 3 for test</a:t>
            </a:r>
            <a:endParaRPr lang="en-US" sz="1800" b="0" i="0" u="none" strike="noStrike" cap="none" spc="0">
              <a:solidFill>
                <a:schemeClr val="tx1"/>
              </a:solidFill>
              <a:latin typeface="Corbel"/>
              <a:cs typeface="Corbel"/>
            </a:endParaRPr>
          </a:p>
          <a:p>
            <a:pPr marL="283879" indent="-283879">
              <a:buFont typeface="Arial"/>
              <a:buChar char="•"/>
              <a:defRPr/>
            </a:pPr>
            <a:r>
              <a:rPr lang="en-US" sz="1800" b="0" i="0" u="none" strike="noStrike" cap="none" spc="0">
                <a:solidFill>
                  <a:schemeClr val="tx1"/>
                </a:solidFill>
                <a:latin typeface="Corbel"/>
                <a:ea typeface="Corbel"/>
                <a:cs typeface="Corbel"/>
              </a:rPr>
              <a:t>Position distribution is Normal distribution with mean is center for all dataset</a:t>
            </a:r>
            <a:endParaRPr lang="en-US" sz="1800" b="0" i="0" u="none" strike="noStrike" cap="none" spc="0">
              <a:solidFill>
                <a:schemeClr val="tx1"/>
              </a:solidFill>
              <a:latin typeface="Corbel"/>
              <a:cs typeface="Corbel"/>
            </a:endParaRPr>
          </a:p>
          <a:p>
            <a:pPr marL="283879" indent="-283879">
              <a:buFont typeface="Arial"/>
              <a:buChar char="•"/>
              <a:defRPr/>
            </a:pPr>
            <a:endParaRPr lang="en-US" sz="1800" b="0" i="0" u="none" strike="noStrike" cap="none" spc="0">
              <a:solidFill>
                <a:schemeClr val="tx1"/>
              </a:solidFill>
              <a:latin typeface="Corbel"/>
              <a:cs typeface="Corbel"/>
            </a:endParaRPr>
          </a:p>
          <a:p>
            <a:pPr>
              <a:defRPr/>
            </a:pPr>
            <a:r>
              <a:rPr lang="en-US" sz="1800" b="0" i="0" u="none" strike="noStrike" cap="none" spc="0">
                <a:solidFill>
                  <a:schemeClr val="tx1"/>
                </a:solidFill>
                <a:latin typeface="Corbel"/>
                <a:ea typeface="Corbel"/>
                <a:cs typeface="Corbel"/>
              </a:rPr>
              <a:t>Need to analyze:</a:t>
            </a:r>
            <a:endParaRPr lang="en-US" sz="1800" b="0" i="0" u="none" strike="noStrike" cap="none" spc="0">
              <a:solidFill>
                <a:schemeClr val="tx1"/>
              </a:solidFill>
              <a:latin typeface="Corbel"/>
              <a:cs typeface="Corbel"/>
            </a:endParaRPr>
          </a:p>
          <a:p>
            <a:pPr marL="283879" indent="-283879">
              <a:buFont typeface="Arial"/>
              <a:buChar char="•"/>
              <a:defRPr/>
            </a:pPr>
            <a:r>
              <a:rPr lang="en-US" sz="1800" b="0" i="0" u="none" strike="noStrike" cap="none" spc="0">
                <a:solidFill>
                  <a:schemeClr val="tx1"/>
                </a:solidFill>
                <a:latin typeface="Corbel"/>
                <a:ea typeface="Corbel"/>
                <a:cs typeface="Corbel"/>
              </a:rPr>
              <a:t>Cause we will transfer image to Black and White, so no need to analyze about color anymore</a:t>
            </a:r>
            <a:endParaRPr lang="en-US" sz="1800" b="0" i="0" u="none" strike="noStrike" cap="none" spc="0">
              <a:solidFill>
                <a:schemeClr val="tx1"/>
              </a:solidFill>
              <a:latin typeface="Corbel"/>
              <a:cs typeface="Corbel"/>
            </a:endParaRPr>
          </a:p>
          <a:p>
            <a:pPr marL="283879" indent="-283879">
              <a:buFont typeface="Arial"/>
              <a:buChar char="•"/>
              <a:defRPr/>
            </a:pPr>
            <a:r>
              <a:rPr lang="en-US" sz="1800" b="1" i="0" u="sng" strike="noStrike" cap="none" spc="0">
                <a:solidFill>
                  <a:schemeClr val="tx1"/>
                </a:solidFill>
                <a:latin typeface="Corbel"/>
                <a:ea typeface="Corbel"/>
                <a:cs typeface="Corbel"/>
              </a:rPr>
              <a:t>Only relation about center position - shape</a:t>
            </a:r>
            <a:endParaRPr sz="1800" b="1" i="0" u="sng" strike="noStrike" cap="none" spc="0">
              <a:solidFill>
                <a:schemeClr val="tx1"/>
              </a:solidFill>
              <a:latin typeface="Corbel"/>
              <a:cs typeface="Corbe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EDA: Position of train data is imbalance in y axis with shape</a:t>
            </a:r>
            <a:br>
              <a:rPr/>
            </a:br>
            <a:r>
              <a:rPr/>
              <a:t>=&gt; Augmentation more data</a:t>
            </a:r>
            <a:endParaRPr/>
          </a:p>
        </p:txBody>
      </p:sp>
      <p:sp>
        <p:nvSpPr>
          <p:cNvPr id="25" name="TextBox 24"/>
          <p:cNvSpPr txBox="1"/>
          <p:nvPr/>
        </p:nvSpPr>
        <p:spPr bwMode="auto">
          <a:xfrm>
            <a:off x="7144679" y="291291"/>
            <a:ext cx="7585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/>
              <a:t>Train</a:t>
            </a:r>
            <a:endParaRPr/>
          </a:p>
        </p:txBody>
      </p:sp>
      <p:sp>
        <p:nvSpPr>
          <p:cNvPr id="26" name="TextBox 25"/>
          <p:cNvSpPr txBox="1"/>
          <p:nvPr/>
        </p:nvSpPr>
        <p:spPr bwMode="auto">
          <a:xfrm>
            <a:off x="5440217" y="291291"/>
            <a:ext cx="6557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/>
              <a:t>Test</a:t>
            </a:r>
            <a:endParaRPr/>
          </a:p>
        </p:txBody>
      </p:sp>
      <p:sp>
        <p:nvSpPr>
          <p:cNvPr id="27" name="TextBox 26"/>
          <p:cNvSpPr txBox="1"/>
          <p:nvPr/>
        </p:nvSpPr>
        <p:spPr bwMode="auto">
          <a:xfrm>
            <a:off x="3940807" y="1142219"/>
            <a:ext cx="11921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/>
              <a:t>All classes</a:t>
            </a:r>
            <a:endParaRPr/>
          </a:p>
        </p:txBody>
      </p:sp>
      <p:sp>
        <p:nvSpPr>
          <p:cNvPr id="28" name="TextBox 27"/>
          <p:cNvSpPr txBox="1"/>
          <p:nvPr/>
        </p:nvSpPr>
        <p:spPr bwMode="auto">
          <a:xfrm>
            <a:off x="3949146" y="2609446"/>
            <a:ext cx="11921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/>
              <a:t>Circle</a:t>
            </a:r>
            <a:endParaRPr/>
          </a:p>
        </p:txBody>
      </p:sp>
      <p:sp>
        <p:nvSpPr>
          <p:cNvPr id="29" name="TextBox 28"/>
          <p:cNvSpPr txBox="1"/>
          <p:nvPr/>
        </p:nvSpPr>
        <p:spPr bwMode="auto">
          <a:xfrm>
            <a:off x="3940807" y="4150763"/>
            <a:ext cx="11921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/>
              <a:t>Triangle</a:t>
            </a:r>
            <a:endParaRPr/>
          </a:p>
        </p:txBody>
      </p:sp>
      <p:sp>
        <p:nvSpPr>
          <p:cNvPr id="30" name="TextBox 29"/>
          <p:cNvSpPr txBox="1"/>
          <p:nvPr/>
        </p:nvSpPr>
        <p:spPr bwMode="auto">
          <a:xfrm>
            <a:off x="3940807" y="5705264"/>
            <a:ext cx="11921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/>
              <a:t>Square</a:t>
            </a:r>
            <a:endParaRPr/>
          </a:p>
        </p:txBody>
      </p:sp>
      <p:sp>
        <p:nvSpPr>
          <p:cNvPr id="1990431321" name="TextBox 10"/>
          <p:cNvSpPr txBox="1"/>
          <p:nvPr/>
        </p:nvSpPr>
        <p:spPr bwMode="auto">
          <a:xfrm>
            <a:off x="3318381" y="577332"/>
            <a:ext cx="758932" cy="3661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/>
              <a:t>Train</a:t>
            </a:r>
            <a:endParaRPr/>
          </a:p>
        </p:txBody>
      </p:sp>
      <p:sp>
        <p:nvSpPr>
          <p:cNvPr id="2115012796" name="TextBox 11"/>
          <p:cNvSpPr txBox="1"/>
          <p:nvPr/>
        </p:nvSpPr>
        <p:spPr bwMode="auto">
          <a:xfrm>
            <a:off x="1176629" y="472468"/>
            <a:ext cx="656141" cy="3661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/>
              <a:t>Test</a:t>
            </a:r>
            <a:endParaRPr/>
          </a:p>
        </p:txBody>
      </p:sp>
      <p:pic>
        <p:nvPicPr>
          <p:cNvPr id="71611401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146130" y="2123163"/>
            <a:ext cx="1243957" cy="1223224"/>
          </a:xfrm>
          <a:prstGeom prst="rect">
            <a:avLst/>
          </a:prstGeom>
        </p:spPr>
      </p:pic>
      <p:pic>
        <p:nvPicPr>
          <p:cNvPr id="920571214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5146130" y="3647718"/>
            <a:ext cx="1243957" cy="1223224"/>
          </a:xfrm>
          <a:prstGeom prst="rect">
            <a:avLst/>
          </a:prstGeom>
        </p:spPr>
      </p:pic>
      <p:pic>
        <p:nvPicPr>
          <p:cNvPr id="1159556869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5146130" y="5320138"/>
            <a:ext cx="1243957" cy="1223224"/>
          </a:xfrm>
          <a:prstGeom prst="rect">
            <a:avLst/>
          </a:prstGeom>
        </p:spPr>
      </p:pic>
      <p:pic>
        <p:nvPicPr>
          <p:cNvPr id="1253963004" name="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 flipH="0" flipV="0">
            <a:off x="5146130" y="715272"/>
            <a:ext cx="1243957" cy="1223224"/>
          </a:xfrm>
          <a:prstGeom prst="rect">
            <a:avLst/>
          </a:prstGeom>
        </p:spPr>
      </p:pic>
      <p:pic>
        <p:nvPicPr>
          <p:cNvPr id="140747800" name=""/>
          <p:cNvPicPr>
            <a:picLocks noChangeAspect="1"/>
          </p:cNvPicPr>
          <p:nvPr/>
        </p:nvPicPr>
        <p:blipFill>
          <a:blip r:embed="rId7"/>
          <a:stretch/>
        </p:blipFill>
        <p:spPr bwMode="auto">
          <a:xfrm flipH="0" flipV="0">
            <a:off x="6901987" y="715272"/>
            <a:ext cx="1243957" cy="1223224"/>
          </a:xfrm>
          <a:prstGeom prst="rect">
            <a:avLst/>
          </a:prstGeom>
        </p:spPr>
      </p:pic>
      <p:pic>
        <p:nvPicPr>
          <p:cNvPr id="766123817" name=""/>
          <p:cNvPicPr>
            <a:picLocks noChangeAspect="1"/>
          </p:cNvPicPr>
          <p:nvPr/>
        </p:nvPicPr>
        <p:blipFill>
          <a:blip r:embed="rId8"/>
          <a:stretch/>
        </p:blipFill>
        <p:spPr bwMode="auto">
          <a:xfrm flipH="0" flipV="0">
            <a:off x="6901987" y="2123163"/>
            <a:ext cx="1243957" cy="1223224"/>
          </a:xfrm>
          <a:prstGeom prst="rect">
            <a:avLst/>
          </a:prstGeom>
        </p:spPr>
      </p:pic>
      <p:pic>
        <p:nvPicPr>
          <p:cNvPr id="1265443019" name=""/>
          <p:cNvPicPr>
            <a:picLocks noChangeAspect="1"/>
          </p:cNvPicPr>
          <p:nvPr/>
        </p:nvPicPr>
        <p:blipFill>
          <a:blip r:embed="rId9"/>
          <a:stretch/>
        </p:blipFill>
        <p:spPr bwMode="auto">
          <a:xfrm flipH="0" flipV="0">
            <a:off x="6901987" y="3647718"/>
            <a:ext cx="1243957" cy="1223224"/>
          </a:xfrm>
          <a:prstGeom prst="rect">
            <a:avLst/>
          </a:prstGeom>
        </p:spPr>
      </p:pic>
      <p:pic>
        <p:nvPicPr>
          <p:cNvPr id="1112064900" name=""/>
          <p:cNvPicPr>
            <a:picLocks noChangeAspect="1"/>
          </p:cNvPicPr>
          <p:nvPr/>
        </p:nvPicPr>
        <p:blipFill>
          <a:blip r:embed="rId10"/>
          <a:stretch/>
        </p:blipFill>
        <p:spPr bwMode="auto">
          <a:xfrm flipH="0" flipV="0">
            <a:off x="6842581" y="5320138"/>
            <a:ext cx="1243957" cy="1223224"/>
          </a:xfrm>
          <a:prstGeom prst="rect">
            <a:avLst/>
          </a:prstGeom>
        </p:spPr>
      </p:pic>
      <p:pic>
        <p:nvPicPr>
          <p:cNvPr id="1044079888" name=""/>
          <p:cNvPicPr>
            <a:picLocks noChangeAspect="1"/>
          </p:cNvPicPr>
          <p:nvPr/>
        </p:nvPicPr>
        <p:blipFill>
          <a:blip r:embed="rId11"/>
          <a:stretch/>
        </p:blipFill>
        <p:spPr bwMode="auto">
          <a:xfrm flipH="0" flipV="0">
            <a:off x="8963280" y="2123163"/>
            <a:ext cx="1243957" cy="1223224"/>
          </a:xfrm>
          <a:prstGeom prst="rect">
            <a:avLst/>
          </a:prstGeom>
        </p:spPr>
      </p:pic>
      <p:pic>
        <p:nvPicPr>
          <p:cNvPr id="1775579780" name=""/>
          <p:cNvPicPr>
            <a:picLocks noChangeAspect="1"/>
          </p:cNvPicPr>
          <p:nvPr/>
        </p:nvPicPr>
        <p:blipFill>
          <a:blip r:embed="rId12"/>
          <a:stretch/>
        </p:blipFill>
        <p:spPr bwMode="auto">
          <a:xfrm flipH="0" flipV="0">
            <a:off x="8963280" y="3647718"/>
            <a:ext cx="1243957" cy="1223224"/>
          </a:xfrm>
          <a:prstGeom prst="rect">
            <a:avLst/>
          </a:prstGeom>
        </p:spPr>
      </p:pic>
      <p:pic>
        <p:nvPicPr>
          <p:cNvPr id="1387225117" name=""/>
          <p:cNvPicPr>
            <a:picLocks noChangeAspect="1"/>
          </p:cNvPicPr>
          <p:nvPr/>
        </p:nvPicPr>
        <p:blipFill>
          <a:blip r:embed="rId13"/>
          <a:stretch/>
        </p:blipFill>
        <p:spPr bwMode="auto">
          <a:xfrm flipH="0" flipV="0">
            <a:off x="8964690" y="5218085"/>
            <a:ext cx="1243957" cy="1223224"/>
          </a:xfrm>
          <a:prstGeom prst="rect">
            <a:avLst/>
          </a:prstGeom>
        </p:spPr>
      </p:pic>
      <p:sp>
        <p:nvSpPr>
          <p:cNvPr id="415742453" name="TextBox 24"/>
          <p:cNvSpPr txBox="1"/>
          <p:nvPr/>
        </p:nvSpPr>
        <p:spPr bwMode="auto">
          <a:xfrm flipH="0" flipV="0">
            <a:off x="8964690" y="294503"/>
            <a:ext cx="1242547" cy="3661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/>
              <a:t>Train - aug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Model building</a:t>
            </a:r>
            <a:endParaRPr/>
          </a:p>
        </p:txBody>
      </p:sp>
      <p:graphicFrame>
        <p:nvGraphicFramePr>
          <p:cNvPr id="1448960914" name=""/>
          <p:cNvGraphicFramePr>
            <a:graphicFrameLocks xmlns:a="http://schemas.openxmlformats.org/drawingml/2006/main"/>
          </p:cNvGraphicFramePr>
          <p:nvPr/>
        </p:nvGraphicFramePr>
        <p:xfrm>
          <a:off x="3731785" y="2057445"/>
          <a:ext cx="7653461" cy="2328544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{5C22544A-7EE6-4342-B048-85BDC9FD1C3A}</a:tableStyleId>
              </a:tblPr>
              <a:tblGrid>
                <a:gridCol w="1910190"/>
                <a:gridCol w="1910190"/>
                <a:gridCol w="1910190"/>
                <a:gridCol w="1910190"/>
              </a:tblGrid>
              <a:tr h="1255993"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MAE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Marco’s base model + Base data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Marco’ base model + New data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Phuc’s model + New data</a:t>
                      </a:r>
                      <a:endParaRPr/>
                    </a:p>
                  </a:txBody>
                  <a:tcPr/>
                </a:tc>
              </a:tr>
              <a:tr h="547131"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Train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1.6262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1.0646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0.9511</a:t>
                      </a:r>
                      <a:endParaRPr/>
                    </a:p>
                  </a:txBody>
                  <a:tcPr/>
                </a:tc>
              </a:tr>
              <a:tr h="512720"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Test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3.0646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0.9846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0.3900</a:t>
                      </a:r>
                      <a:endParaRPr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23481664" name=""/>
          <p:cNvSpPr txBox="1"/>
          <p:nvPr/>
        </p:nvSpPr>
        <p:spPr bwMode="auto">
          <a:xfrm flipH="0" flipV="0">
            <a:off x="3901874" y="4966606"/>
            <a:ext cx="6577505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283879" indent="-283879">
              <a:buFont typeface="Arial"/>
              <a:buChar char="–"/>
              <a:defRPr/>
            </a:pPr>
            <a:r>
              <a:rPr/>
              <a:t>Data test too simple when compare with train data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Model building</a:t>
            </a:r>
            <a:endParaRPr/>
          </a:p>
        </p:txBody>
      </p:sp>
      <p:pic>
        <p:nvPicPr>
          <p:cNvPr id="6" name="Picture 5" descr="A screen shot of a computer program&#10;&#10;Description automatically generated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452379" y="0"/>
            <a:ext cx="7772400" cy="53912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 bwMode="auto">
          <a:xfrm>
            <a:off x="3452379" y="5540354"/>
            <a:ext cx="44981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/>
              <a:t>Train acc 99.75%, Test acc 99.96%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Frame">
  <a:themeElements>
    <a:clrScheme name="Frame">
      <a:dk1>
        <a:srgbClr val="000000"/>
      </a:dk1>
      <a:lt1>
        <a:srgbClr val="FFFFFF"/>
      </a:lt1>
      <a:dk2>
        <a:srgbClr val="545454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Frame">
      <a:majorFont>
        <a:latin typeface="Corbel"/>
        <a:ea typeface="Arial"/>
        <a:cs typeface="Arial"/>
      </a:majorFont>
      <a:minorFont>
        <a:latin typeface="Corbel"/>
        <a:ea typeface="Arial"/>
        <a:cs typeface="Arial"/>
      </a:minorFont>
    </a:fontScheme>
    <a:fmtScheme name="Fram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satMod val="150000"/>
              <a:alpha val="50000"/>
            </a:schemeClr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Frame">
  <a:themeElements>
    <a:clrScheme name="Frame">
      <a:dk1>
        <a:srgbClr val="000000"/>
      </a:dk1>
      <a:lt1>
        <a:srgbClr val="FFFFFF"/>
      </a:lt1>
      <a:dk2>
        <a:srgbClr val="545454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">
      <a:majorFont>
        <a:latin typeface="Corbel"/>
        <a:ea typeface="Arial"/>
        <a:cs typeface="Arial"/>
      </a:majorFont>
      <a:minorFont>
        <a:latin typeface="Corbel"/>
        <a:ea typeface="Arial"/>
        <a:cs typeface="Arial"/>
      </a:minorFont>
    </a:fontScheme>
    <a:fmtScheme name="Fram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satMod val="150000"/>
              <a:alpha val="50000"/>
            </a:schemeClr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Frame</Template>
  <TotalTime>0</TotalTime>
  <Words>0</Words>
  <Application>ONLYOFFICE/8.0.1.31</Application>
  <DocSecurity>0</DocSecurity>
  <PresentationFormat>Widescreen</PresentationFormat>
  <Paragraphs>0</Paragraphs>
  <Slides>4</Slides>
  <Notes>4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Theme 1</vt:lpstr>
      <vt:lpstr>Slide 1</vt:lpstr>
      <vt:lpstr>Slide 2</vt:lpstr>
      <vt:lpstr>Slide 3</vt:lpstr>
      <vt:lpstr>Slide 4</vt:lpstr>
    </vt:vector>
  </TitlesOfParts>
  <Manager/>
  <Company/>
  <LinksUpToDate>0</LinksUpToDate>
  <SharedDoc>0</SharedDoc>
  <HyperlinkBase/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EDA 1 : Class balance</dc:title>
  <dc:subject/>
  <dc:creator>Nguyen Thanh Phuc(PhucNT)</dc:creator>
  <cp:keywords/>
  <dc:description/>
  <dc:identifier/>
  <dc:language/>
  <cp:lastModifiedBy/>
  <cp:revision>3</cp:revision>
  <dcterms:created xsi:type="dcterms:W3CDTF">2024-04-17T01:04:23Z</dcterms:created>
  <dcterms:modified xsi:type="dcterms:W3CDTF">2024-04-29T04:16:05Z</dcterms:modified>
  <cp:category/>
  <cp:contentStatus/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550b433-701f-4307-b53a-1ac34aad3d23_Enabled">
    <vt:lpwstr>true</vt:lpwstr>
  </property>
  <property fmtid="{D5CDD505-2E9C-101B-9397-08002B2CF9AE}" pid="3" name="MSIP_Label_c550b433-701f-4307-b53a-1ac34aad3d23_SetDate">
    <vt:lpwstr>2024-04-29T03:39:57Z</vt:lpwstr>
  </property>
  <property fmtid="{D5CDD505-2E9C-101B-9397-08002B2CF9AE}" pid="4" name="MSIP_Label_c550b433-701f-4307-b53a-1ac34aad3d23_Method">
    <vt:lpwstr>Privileged</vt:lpwstr>
  </property>
  <property fmtid="{D5CDD505-2E9C-101B-9397-08002B2CF9AE}" pid="5" name="MSIP_Label_c550b433-701f-4307-b53a-1ac34aad3d23_Name">
    <vt:lpwstr>c550b433-701f-4307-b53a-1ac34aad3d23</vt:lpwstr>
  </property>
  <property fmtid="{D5CDD505-2E9C-101B-9397-08002B2CF9AE}" pid="6" name="MSIP_Label_c550b433-701f-4307-b53a-1ac34aad3d23_SiteId">
    <vt:lpwstr>76529cbb-482f-4415-b366-251e1c034e34</vt:lpwstr>
  </property>
  <property fmtid="{D5CDD505-2E9C-101B-9397-08002B2CF9AE}" pid="7" name="MSIP_Label_c550b433-701f-4307-b53a-1ac34aad3d23_ActionId">
    <vt:lpwstr>97fe2e94-14a6-45c0-996f-de8f709d3932</vt:lpwstr>
  </property>
  <property fmtid="{D5CDD505-2E9C-101B-9397-08002B2CF9AE}" pid="8" name="MSIP_Label_c550b433-701f-4307-b53a-1ac34aad3d23_ContentBits">
    <vt:lpwstr>0</vt:lpwstr>
  </property>
</Properties>
</file>