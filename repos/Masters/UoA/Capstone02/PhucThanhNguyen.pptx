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74af06fb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74af06fb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4ae9d0e35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4ae9d0e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4ae9d0e35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74ae9d0e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4ae9d0e35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4ae9d0e3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4ae9d0e35_0_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4ae9d0e3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4ae9d0e35_0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74ae9d0e3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4ae9d0e35_0_1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74ae9d0e3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4ae9d0e35_0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4ae9d0e3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4ae9d0e35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4ae9d0e3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91f4094f6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91f4094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91f4094f6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91f4094f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91f4094f6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91f4094f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2: Eye for the Blind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UoA C4 - Phuc Thanh Nguyen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70500" y="2185350"/>
            <a:ext cx="4045200" cy="77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Solution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Preprocessing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Preprocessing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Images to Feature maps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</a:t>
            </a:r>
            <a:r>
              <a:rPr lang="en"/>
              <a:t>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evaluation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n" sz="1800"/>
              <a:t>Introduction</a:t>
            </a:r>
            <a:endParaRPr sz="18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5181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Problem statement: Create a deep learning model which can </a:t>
            </a:r>
            <a:r>
              <a:rPr b="1" lang="en"/>
              <a:t>explain the contents of an image in the form of speech</a:t>
            </a:r>
            <a:r>
              <a:rPr lang="en"/>
              <a:t> through caption generation with an attention mechanism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Dataset: </a:t>
            </a:r>
            <a:r>
              <a:rPr b="1" lang="en"/>
              <a:t>Flickr8K.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Usage: help blind people </a:t>
            </a:r>
            <a:r>
              <a:rPr b="1" lang="en"/>
              <a:t>to understand any image with the help of speech.</a:t>
            </a:r>
            <a:endParaRPr b="1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900" y="2426450"/>
            <a:ext cx="270510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n" sz="1800"/>
              <a:t>Introduction</a:t>
            </a:r>
            <a:endParaRPr sz="18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1900" y="1919075"/>
            <a:ext cx="51810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Detail of dataset: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8K images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40K captions, each image include 5 caption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 caption </a:t>
            </a:r>
            <a:r>
              <a:rPr lang="en"/>
              <a:t>length after preprocessing</a:t>
            </a:r>
            <a:r>
              <a:rPr lang="en"/>
              <a:t>: 39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38" y="3206000"/>
            <a:ext cx="8131925" cy="1667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II.	Solution pipeline</a:t>
            </a:r>
            <a:endParaRPr sz="1800"/>
          </a:p>
        </p:txBody>
      </p:sp>
      <p:sp>
        <p:nvSpPr>
          <p:cNvPr id="94" name="Google Shape;94;p17"/>
          <p:cNvSpPr/>
          <p:nvPr/>
        </p:nvSpPr>
        <p:spPr>
          <a:xfrm>
            <a:off x="1930185" y="2003410"/>
            <a:ext cx="1906500" cy="740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Preprocess Image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952354" y="3116768"/>
            <a:ext cx="1906500" cy="740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Preprocess Text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00" y="1872625"/>
            <a:ext cx="1185014" cy="100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518" y="3079707"/>
            <a:ext cx="963323" cy="8146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4324437" y="2003410"/>
            <a:ext cx="1906500" cy="740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Images to feature maps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682785" y="2003398"/>
            <a:ext cx="1906500" cy="740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Store feature maps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682785" y="3116780"/>
            <a:ext cx="1906500" cy="740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Dataset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682785" y="4178213"/>
            <a:ext cx="1906500" cy="7407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Model building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350768" y="4178213"/>
            <a:ext cx="1906500" cy="7407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" name="Google Shape;103;p17"/>
          <p:cNvCxnSpPr>
            <a:stCxn id="96" idx="3"/>
            <a:endCxn id="94" idx="1"/>
          </p:cNvCxnSpPr>
          <p:nvPr/>
        </p:nvCxnSpPr>
        <p:spPr>
          <a:xfrm>
            <a:off x="1414714" y="2373673"/>
            <a:ext cx="51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7"/>
          <p:cNvCxnSpPr>
            <a:stCxn id="94" idx="3"/>
            <a:endCxn id="98" idx="1"/>
          </p:cNvCxnSpPr>
          <p:nvPr/>
        </p:nvCxnSpPr>
        <p:spPr>
          <a:xfrm>
            <a:off x="3836685" y="2373760"/>
            <a:ext cx="48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7"/>
          <p:cNvCxnSpPr>
            <a:stCxn id="98" idx="3"/>
            <a:endCxn id="99" idx="1"/>
          </p:cNvCxnSpPr>
          <p:nvPr/>
        </p:nvCxnSpPr>
        <p:spPr>
          <a:xfrm>
            <a:off x="6230937" y="2373760"/>
            <a:ext cx="45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>
            <a:stCxn id="99" idx="2"/>
            <a:endCxn id="100" idx="0"/>
          </p:cNvCxnSpPr>
          <p:nvPr/>
        </p:nvCxnSpPr>
        <p:spPr>
          <a:xfrm>
            <a:off x="7636035" y="2744098"/>
            <a:ext cx="0" cy="3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>
            <a:stCxn id="95" idx="3"/>
            <a:endCxn id="100" idx="1"/>
          </p:cNvCxnSpPr>
          <p:nvPr/>
        </p:nvCxnSpPr>
        <p:spPr>
          <a:xfrm>
            <a:off x="3858854" y="3487118"/>
            <a:ext cx="28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7"/>
          <p:cNvCxnSpPr>
            <a:stCxn id="97" idx="3"/>
            <a:endCxn id="95" idx="1"/>
          </p:cNvCxnSpPr>
          <p:nvPr/>
        </p:nvCxnSpPr>
        <p:spPr>
          <a:xfrm>
            <a:off x="1323841" y="3487017"/>
            <a:ext cx="62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7"/>
          <p:cNvCxnSpPr>
            <a:stCxn id="100" idx="2"/>
            <a:endCxn id="101" idx="0"/>
          </p:cNvCxnSpPr>
          <p:nvPr/>
        </p:nvCxnSpPr>
        <p:spPr>
          <a:xfrm>
            <a:off x="7636035" y="3857480"/>
            <a:ext cx="0" cy="3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7"/>
          <p:cNvCxnSpPr>
            <a:stCxn id="101" idx="1"/>
            <a:endCxn id="102" idx="3"/>
          </p:cNvCxnSpPr>
          <p:nvPr/>
        </p:nvCxnSpPr>
        <p:spPr>
          <a:xfrm rot="10800000">
            <a:off x="6257385" y="4548563"/>
            <a:ext cx="42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III.	Preprocessing texts</a:t>
            </a:r>
            <a:endParaRPr sz="1800"/>
          </a:p>
        </p:txBody>
      </p:sp>
      <p:grpSp>
        <p:nvGrpSpPr>
          <p:cNvPr id="116" name="Google Shape;116;p18"/>
          <p:cNvGrpSpPr/>
          <p:nvPr/>
        </p:nvGrpSpPr>
        <p:grpSpPr>
          <a:xfrm>
            <a:off x="1637908" y="1912653"/>
            <a:ext cx="5612849" cy="928668"/>
            <a:chOff x="360518" y="3079707"/>
            <a:chExt cx="5991513" cy="814621"/>
          </a:xfrm>
        </p:grpSpPr>
        <p:pic>
          <p:nvPicPr>
            <p:cNvPr id="117" name="Google Shape;117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0518" y="3079707"/>
              <a:ext cx="963323" cy="8146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" name="Google Shape;118;p18"/>
            <p:cNvCxnSpPr>
              <a:stCxn id="117" idx="3"/>
              <a:endCxn id="119" idx="1"/>
            </p:cNvCxnSpPr>
            <p:nvPr/>
          </p:nvCxnSpPr>
          <p:spPr>
            <a:xfrm>
              <a:off x="1323841" y="3487017"/>
              <a:ext cx="628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0" name="Google Shape;120;p18"/>
            <p:cNvSpPr/>
            <p:nvPr/>
          </p:nvSpPr>
          <p:spPr>
            <a:xfrm>
              <a:off x="1931429" y="3116655"/>
              <a:ext cx="1906500" cy="7407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Build tokenizer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4445531" y="3116677"/>
              <a:ext cx="1906500" cy="7407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Tokenize and padding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2" name="Google Shape;122;p18"/>
            <p:cNvCxnSpPr/>
            <p:nvPr/>
          </p:nvCxnSpPr>
          <p:spPr>
            <a:xfrm>
              <a:off x="3837916" y="3487017"/>
              <a:ext cx="628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3" name="Google Shape;123;p18"/>
          <p:cNvSpPr txBox="1"/>
          <p:nvPr/>
        </p:nvSpPr>
        <p:spPr>
          <a:xfrm>
            <a:off x="399475" y="2926325"/>
            <a:ext cx="82944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Build Tokenizer: maximum 5000 words, other word will be replace by &lt;UNK&gt;, with &lt;start&gt; and &lt;end&gt; add into begin and ending of each sentence, respectively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Padding: Pad 0 to get all sentences have same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length (equal max length of dataset)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III.	Preprocessing texts</a:t>
            </a:r>
            <a:endParaRPr sz="1800"/>
          </a:p>
        </p:txBody>
      </p:sp>
      <p:sp>
        <p:nvSpPr>
          <p:cNvPr id="129" name="Google Shape;129;p19"/>
          <p:cNvSpPr txBox="1"/>
          <p:nvPr/>
        </p:nvSpPr>
        <p:spPr>
          <a:xfrm>
            <a:off x="105200" y="1762800"/>
            <a:ext cx="88884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How we build tokenizer: exclude all delimiters, and lowercase all words so for with 5000 words dictionary we could contains as much word as possible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50" y="2501825"/>
            <a:ext cx="8925800" cy="25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IV.	</a:t>
            </a:r>
            <a:r>
              <a:rPr lang="en" sz="1800"/>
              <a:t>Preprocessing images</a:t>
            </a:r>
            <a:endParaRPr sz="1800"/>
          </a:p>
        </p:txBody>
      </p:sp>
      <p:sp>
        <p:nvSpPr>
          <p:cNvPr id="136" name="Google Shape;136;p20"/>
          <p:cNvSpPr/>
          <p:nvPr/>
        </p:nvSpPr>
        <p:spPr>
          <a:xfrm>
            <a:off x="2699198" y="2033350"/>
            <a:ext cx="2254500" cy="740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Resize image to size (299, 299)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725" y="1902575"/>
            <a:ext cx="1185014" cy="100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>
            <a:off x="5687712" y="2033285"/>
            <a:ext cx="1906500" cy="740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Scale image to range [-1, 1]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p20"/>
          <p:cNvCxnSpPr>
            <a:stCxn id="137" idx="3"/>
            <a:endCxn id="136" idx="1"/>
          </p:cNvCxnSpPr>
          <p:nvPr/>
        </p:nvCxnSpPr>
        <p:spPr>
          <a:xfrm>
            <a:off x="2183739" y="2403623"/>
            <a:ext cx="51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0"/>
          <p:cNvCxnSpPr>
            <a:stCxn id="136" idx="3"/>
            <a:endCxn id="138" idx="1"/>
          </p:cNvCxnSpPr>
          <p:nvPr/>
        </p:nvCxnSpPr>
        <p:spPr>
          <a:xfrm>
            <a:off x="4953698" y="2403700"/>
            <a:ext cx="7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0"/>
          <p:cNvSpPr txBox="1"/>
          <p:nvPr/>
        </p:nvSpPr>
        <p:spPr>
          <a:xfrm>
            <a:off x="853925" y="3116075"/>
            <a:ext cx="78051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Image is resize into (299, 299)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After that,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scale image pixel value to range [-1,1]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V.	</a:t>
            </a:r>
            <a:r>
              <a:rPr lang="en" sz="1800"/>
              <a:t>Images to Feature maps</a:t>
            </a:r>
            <a:endParaRPr sz="1800"/>
          </a:p>
        </p:txBody>
      </p:sp>
      <p:sp>
        <p:nvSpPr>
          <p:cNvPr id="147" name="Google Shape;147;p21"/>
          <p:cNvSpPr/>
          <p:nvPr/>
        </p:nvSpPr>
        <p:spPr>
          <a:xfrm>
            <a:off x="2784075" y="2539950"/>
            <a:ext cx="1906500" cy="740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Extract feature map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725" y="1902575"/>
            <a:ext cx="1185014" cy="100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5380762" y="2539960"/>
            <a:ext cx="1906500" cy="740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Store on hard disk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1"/>
          <p:cNvCxnSpPr>
            <a:stCxn id="148" idx="3"/>
            <a:endCxn id="147" idx="1"/>
          </p:cNvCxnSpPr>
          <p:nvPr/>
        </p:nvCxnSpPr>
        <p:spPr>
          <a:xfrm>
            <a:off x="2183739" y="2403623"/>
            <a:ext cx="600300" cy="5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1"/>
          <p:cNvCxnSpPr>
            <a:stCxn id="147" idx="3"/>
            <a:endCxn id="149" idx="1"/>
          </p:cNvCxnSpPr>
          <p:nvPr/>
        </p:nvCxnSpPr>
        <p:spPr>
          <a:xfrm>
            <a:off x="4690575" y="2910300"/>
            <a:ext cx="69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1"/>
          <p:cNvSpPr txBox="1"/>
          <p:nvPr/>
        </p:nvSpPr>
        <p:spPr>
          <a:xfrm>
            <a:off x="818975" y="4024950"/>
            <a:ext cx="78051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Load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Inception V3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model without head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Use this model to get feature map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249" y="2910325"/>
            <a:ext cx="1024650" cy="1024650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pic>
      <p:cxnSp>
        <p:nvCxnSpPr>
          <p:cNvPr id="154" name="Google Shape;154;p21"/>
          <p:cNvCxnSpPr>
            <a:stCxn id="153" idx="3"/>
            <a:endCxn id="147" idx="1"/>
          </p:cNvCxnSpPr>
          <p:nvPr/>
        </p:nvCxnSpPr>
        <p:spPr>
          <a:xfrm flipH="1" rot="10800000">
            <a:off x="2093899" y="2910250"/>
            <a:ext cx="690300" cy="5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VI.	</a:t>
            </a:r>
            <a:r>
              <a:rPr lang="en" sz="1800"/>
              <a:t>Model building</a:t>
            </a:r>
            <a:endParaRPr sz="1800"/>
          </a:p>
        </p:txBody>
      </p:sp>
      <p:sp>
        <p:nvSpPr>
          <p:cNvPr id="160" name="Google Shape;160;p22"/>
          <p:cNvSpPr/>
          <p:nvPr/>
        </p:nvSpPr>
        <p:spPr>
          <a:xfrm>
            <a:off x="1475708" y="2343712"/>
            <a:ext cx="1606500" cy="642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Encoder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3541022" y="2343720"/>
            <a:ext cx="1606500" cy="6426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Attention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" name="Google Shape;162;p22"/>
          <p:cNvCxnSpPr>
            <a:stCxn id="160" idx="3"/>
            <a:endCxn id="161" idx="1"/>
          </p:cNvCxnSpPr>
          <p:nvPr/>
        </p:nvCxnSpPr>
        <p:spPr>
          <a:xfrm>
            <a:off x="3082208" y="2665012"/>
            <a:ext cx="4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2"/>
          <p:cNvSpPr txBox="1"/>
          <p:nvPr/>
        </p:nvSpPr>
        <p:spPr>
          <a:xfrm>
            <a:off x="804000" y="3550550"/>
            <a:ext cx="78051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Get feature map through encoder and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attention to get a new feature map focused on the most important information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From new feature map to text by Decoder (built from RNN family)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" name="Google Shape;164;p22"/>
          <p:cNvCxnSpPr>
            <a:stCxn id="165" idx="3"/>
            <a:endCxn id="160" idx="1"/>
          </p:cNvCxnSpPr>
          <p:nvPr/>
        </p:nvCxnSpPr>
        <p:spPr>
          <a:xfrm>
            <a:off x="916925" y="2665076"/>
            <a:ext cx="55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203226"/>
            <a:ext cx="916925" cy="9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/>
          <p:nvPr/>
        </p:nvSpPr>
        <p:spPr>
          <a:xfrm>
            <a:off x="5516514" y="2343720"/>
            <a:ext cx="1606500" cy="64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Decoder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" name="Google Shape;167;p22"/>
          <p:cNvCxnSpPr>
            <a:stCxn id="161" idx="3"/>
            <a:endCxn id="166" idx="1"/>
          </p:cNvCxnSpPr>
          <p:nvPr/>
        </p:nvCxnSpPr>
        <p:spPr>
          <a:xfrm>
            <a:off x="5147522" y="2665020"/>
            <a:ext cx="36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2"/>
          <p:cNvSpPr/>
          <p:nvPr/>
        </p:nvSpPr>
        <p:spPr>
          <a:xfrm>
            <a:off x="7492070" y="2343709"/>
            <a:ext cx="1606500" cy="642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Training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" name="Google Shape;169;p22"/>
          <p:cNvCxnSpPr>
            <a:endCxn id="168" idx="1"/>
          </p:cNvCxnSpPr>
          <p:nvPr/>
        </p:nvCxnSpPr>
        <p:spPr>
          <a:xfrm>
            <a:off x="7123070" y="2665009"/>
            <a:ext cx="36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VI</a:t>
            </a:r>
            <a:r>
              <a:rPr lang="en" sz="1800"/>
              <a:t>.	Model evaluation</a:t>
            </a:r>
            <a:endParaRPr sz="1800"/>
          </a:p>
        </p:txBody>
      </p:sp>
      <p:sp>
        <p:nvSpPr>
          <p:cNvPr id="175" name="Google Shape;175;p23"/>
          <p:cNvSpPr txBox="1"/>
          <p:nvPr/>
        </p:nvSpPr>
        <p:spPr>
          <a:xfrm>
            <a:off x="85225" y="1762800"/>
            <a:ext cx="87537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After training model for 10 epochs (due to limit of hardware), we use some metrics below to evaluate it.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963" y="2471100"/>
            <a:ext cx="3330222" cy="26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VI.	Model evaluation</a:t>
            </a:r>
            <a:endParaRPr sz="1800"/>
          </a:p>
        </p:txBody>
      </p:sp>
      <p:sp>
        <p:nvSpPr>
          <p:cNvPr id="182" name="Google Shape;182;p24"/>
          <p:cNvSpPr txBox="1"/>
          <p:nvPr/>
        </p:nvSpPr>
        <p:spPr>
          <a:xfrm>
            <a:off x="85225" y="1762800"/>
            <a:ext cx="87537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After training model for 10 epochs (due to limit of hardware), we use greedy search and beam search to find the predict caption.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963" y="2471100"/>
            <a:ext cx="3330222" cy="26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VI.	Model evaluation</a:t>
            </a:r>
            <a:endParaRPr sz="1800"/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00" y="2390825"/>
            <a:ext cx="757237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VI.	Model evaluation</a:t>
            </a:r>
            <a:endParaRPr sz="1800"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400" y="1811225"/>
            <a:ext cx="459923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